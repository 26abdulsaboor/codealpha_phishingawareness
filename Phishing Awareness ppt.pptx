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9"/>
  </p:notesMasterIdLst>
  <p:sldIdLst>
    <p:sldId id="27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7BFB8EE-CD78-41F8-AEA1-87083D885B55}">
          <p14:sldIdLst>
            <p14:sldId id="278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Untitled Section" id="{5EDE922F-DEB5-42F5-836C-66D6B5541D51}">
          <p14:sldIdLst>
            <p14:sldId id="287"/>
            <p14:sldId id="288"/>
            <p14:sldId id="289"/>
            <p14:sldId id="290"/>
            <p14:sldId id="291"/>
            <p14:sldId id="29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9" autoAdjust="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D01546-198A-4195-BCF8-F0FF54C90E5E}" type="datetimeFigureOut">
              <a:rPr lang="en-US" smtClean="0"/>
              <a:t>8/20/2026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6DE88F-1F85-4A27-9D34-D74A50E7B0DA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091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0746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48654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640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2058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1203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4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51302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3556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05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5022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85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75291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0925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26478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546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89783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8A1C807-B9AD-4C9B-BF9F-60F0342899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 useBgFill="1">
        <p:nvSpPr>
          <p:cNvPr id="103" name="Freeform 5">
            <a:extLst>
              <a:ext uri="{FF2B5EF4-FFF2-40B4-BE49-F238E27FC236}">
                <a16:creationId xmlns:a16="http://schemas.microsoft.com/office/drawing/2014/main" id="{FE469E50-3893-4ED6-92BA-2985C32B0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rot="5400000">
            <a:off x="7131809" y="1385982"/>
            <a:ext cx="4031414" cy="4100418"/>
          </a:xfrm>
          <a:custGeom>
            <a:avLst/>
            <a:gdLst>
              <a:gd name="T0" fmla="*/ 1577 w 1601"/>
              <a:gd name="T1" fmla="*/ 0 h 696"/>
              <a:gd name="T2" fmla="*/ 833 w 1601"/>
              <a:gd name="T3" fmla="*/ 0 h 696"/>
              <a:gd name="T4" fmla="*/ 768 w 1601"/>
              <a:gd name="T5" fmla="*/ 0 h 696"/>
              <a:gd name="T6" fmla="*/ 24 w 1601"/>
              <a:gd name="T7" fmla="*/ 0 h 696"/>
              <a:gd name="T8" fmla="*/ 0 w 1601"/>
              <a:gd name="T9" fmla="*/ 27 h 696"/>
              <a:gd name="T10" fmla="*/ 0 w 1601"/>
              <a:gd name="T11" fmla="*/ 669 h 696"/>
              <a:gd name="T12" fmla="*/ 24 w 1601"/>
              <a:gd name="T13" fmla="*/ 696 h 696"/>
              <a:gd name="T14" fmla="*/ 768 w 1601"/>
              <a:gd name="T15" fmla="*/ 696 h 696"/>
              <a:gd name="T16" fmla="*/ 833 w 1601"/>
              <a:gd name="T17" fmla="*/ 696 h 696"/>
              <a:gd name="T18" fmla="*/ 1577 w 1601"/>
              <a:gd name="T19" fmla="*/ 696 h 696"/>
              <a:gd name="T20" fmla="*/ 1601 w 1601"/>
              <a:gd name="T21" fmla="*/ 669 h 696"/>
              <a:gd name="T22" fmla="*/ 1601 w 1601"/>
              <a:gd name="T23" fmla="*/ 27 h 696"/>
              <a:gd name="T24" fmla="*/ 1577 w 1601"/>
              <a:gd name="T25" fmla="*/ 0 h 6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601" h="696">
                <a:moveTo>
                  <a:pt x="1577" y="0"/>
                </a:moveTo>
                <a:cubicBezTo>
                  <a:pt x="833" y="0"/>
                  <a:pt x="833" y="0"/>
                  <a:pt x="833" y="0"/>
                </a:cubicBezTo>
                <a:cubicBezTo>
                  <a:pt x="768" y="0"/>
                  <a:pt x="768" y="0"/>
                  <a:pt x="768" y="0"/>
                </a:cubicBez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2"/>
                  <a:pt x="0" y="27"/>
                </a:cubicBezTo>
                <a:cubicBezTo>
                  <a:pt x="0" y="669"/>
                  <a:pt x="0" y="669"/>
                  <a:pt x="0" y="669"/>
                </a:cubicBezTo>
                <a:cubicBezTo>
                  <a:pt x="0" y="684"/>
                  <a:pt x="11" y="696"/>
                  <a:pt x="24" y="696"/>
                </a:cubicBezTo>
                <a:cubicBezTo>
                  <a:pt x="768" y="696"/>
                  <a:pt x="768" y="696"/>
                  <a:pt x="768" y="696"/>
                </a:cubicBezTo>
                <a:cubicBezTo>
                  <a:pt x="833" y="696"/>
                  <a:pt x="833" y="696"/>
                  <a:pt x="833" y="696"/>
                </a:cubicBezTo>
                <a:cubicBezTo>
                  <a:pt x="1577" y="696"/>
                  <a:pt x="1577" y="696"/>
                  <a:pt x="1577" y="696"/>
                </a:cubicBezTo>
                <a:cubicBezTo>
                  <a:pt x="1590" y="696"/>
                  <a:pt x="1601" y="684"/>
                  <a:pt x="1601" y="669"/>
                </a:cubicBezTo>
                <a:cubicBezTo>
                  <a:pt x="1601" y="27"/>
                  <a:pt x="1601" y="27"/>
                  <a:pt x="1601" y="27"/>
                </a:cubicBezTo>
                <a:cubicBezTo>
                  <a:pt x="1601" y="12"/>
                  <a:pt x="1590" y="0"/>
                  <a:pt x="1577" y="0"/>
                </a:cubicBezTo>
                <a:close/>
              </a:path>
            </a:pathLst>
          </a:custGeom>
          <a:ln>
            <a:noFill/>
          </a:ln>
          <a:effectLst>
            <a:outerShdw blurRad="50800" dist="38100" dir="5400000" algn="tl" rotWithShape="0">
              <a:srgbClr val="000000">
                <a:alpha val="43000"/>
              </a:srgbClr>
            </a:outerShdw>
          </a:effectLst>
          <a:extLst>
            <a:ext uri="{91240B29-F687-4f45-9708-019B960494DF}">
              <a14:hiddenLine xmlns="" xmlns:a14="http://schemas.microsoft.com/office/drawing/2010/main" xmlns:p14="http://schemas.microsoft.com/office/powerpoint/2010/main" xmlns:a16="http://schemas.microsoft.com/office/drawing/2014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oudy Old Sty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D1F047C-C727-42A7-85C5-68C5AA1B1A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9962" y="1673524"/>
            <a:ext cx="3485073" cy="1755476"/>
          </a:xfrm>
        </p:spPr>
        <p:txBody>
          <a:bodyPr>
            <a:normAutofit/>
          </a:bodyPr>
          <a:lstStyle/>
          <a:p>
            <a:pPr algn="l"/>
            <a:r>
              <a:rPr lang="en-US" sz="4000" dirty="0"/>
              <a:t>Phishing Awareness</a:t>
            </a:r>
            <a:br>
              <a:rPr lang="en-US" sz="4000" dirty="0"/>
            </a:br>
            <a:r>
              <a:rPr lang="en-US" sz="4000" dirty="0"/>
              <a:t>Training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C9224A3-F110-46E0-9A2C-65A85926DAA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7286324" y="3509257"/>
            <a:ext cx="348507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 to Identify, Prevent &amp;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Respond to Phishing Attacks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CodeAlpha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Project 1</a:t>
            </a:r>
          </a:p>
        </p:txBody>
      </p:sp>
    </p:spTree>
    <p:extLst>
      <p:ext uri="{BB962C8B-B14F-4D97-AF65-F5344CB8AC3E}">
        <p14:creationId xmlns:p14="http://schemas.microsoft.com/office/powerpoint/2010/main" val="41678842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0C1D3-602A-43CD-8682-C9E93396F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8695" y="482599"/>
            <a:ext cx="10353762" cy="1398019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/>
              <a:t>What is Phishing 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D504986-901F-4179-8F56-DF9F9D1DBC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1880619"/>
            <a:ext cx="12483966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240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P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hishing is a type of cyber attack that uses deception to steal sensitive information.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Attackers may target passwords, banking details, personal information, or login credentials.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Phishing commonly occurs through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emails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, messages, fake websites, and social media.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The attacker pretends to be a trusted person or organization. 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The main goal is to trick the victim into revealing information or clicking a malicious link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650355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ED9A11FF-72A2-482F-8653-E2135753B6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04801" y="614342"/>
            <a:ext cx="6629852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How Does Phishing Work</a:t>
            </a: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?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596CE04-F956-4002-B864-0CA721B2585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" y="1660783"/>
            <a:ext cx="11887199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Create a Fake Message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The attacker sends a convincing email, message, or notification. </a:t>
            </a:r>
          </a:p>
          <a:p>
            <a:pPr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Pretend to Be Trusted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The attacker may impersonate a bank, company, friend, or online service. </a:t>
            </a:r>
          </a:p>
          <a:p>
            <a:pPr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Create Urgency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The message may say “Your account will be blocked” or “Immediate action required.” </a:t>
            </a:r>
          </a:p>
          <a:p>
            <a:pPr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Trick the Victim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The victim is encouraged to click a link, open an attachment, or provide information. </a:t>
            </a:r>
          </a:p>
          <a:p>
            <a:pPr marR="0" lvl="0" indent="-34290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Steal Information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Times New Roman" panose="02020603050405020304" pitchFamily="18" charset="0"/>
              </a:rPr>
              <a:t>The attacker attempts to obtain passwords, credentials, financial details, or other sensitive data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832516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AC595-B008-4C4E-8DB3-7D5DAA973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Common Types of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E47967-56C0-45D3-BBBC-82ED09E55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Content: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Email Phishing</a:t>
            </a:r>
            <a:r>
              <a:rPr lang="en-US" dirty="0"/>
              <a:t> — Fake emails designed to steal information.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Spear Phishing</a:t>
            </a:r>
            <a:r>
              <a:rPr lang="en-US" dirty="0"/>
              <a:t> — Targeted attacks aimed at a specific person or organization.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Smishing</a:t>
            </a:r>
            <a:r>
              <a:rPr lang="en-US" dirty="0"/>
              <a:t> — Phishing attacks sent through SMS or text messages.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Vishing</a:t>
            </a:r>
            <a:r>
              <a:rPr lang="en-US" dirty="0"/>
              <a:t> — Phishing conducted through phone calls or voice messages.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Website Phishing</a:t>
            </a:r>
            <a:r>
              <a:rPr lang="en-US" dirty="0"/>
              <a:t> — Fake websites designed to look like legitimate websites.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008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EFC9D-5188-4C9A-A361-B1C0467475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sz="3200" b="1" dirty="0"/>
              <a:t>Content: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Check the Sender:</a:t>
            </a:r>
            <a:r>
              <a:rPr lang="en-US" sz="3200" dirty="0"/>
              <a:t> Look carefully at the sender’s email address.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Look for Urgency:</a:t>
            </a:r>
            <a:r>
              <a:rPr lang="en-US" sz="3200" dirty="0"/>
              <a:t> Be careful with messages demanding immediate action.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Check the Link:</a:t>
            </a:r>
            <a:r>
              <a:rPr lang="en-US" sz="3200" dirty="0"/>
              <a:t> Hover over links before clicking them.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Watch for Spelling Errors:</a:t>
            </a:r>
            <a:r>
              <a:rPr lang="en-US" sz="3200" dirty="0"/>
              <a:t> Fake messages may contain unusual grammar or spelling mistakes.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Avoid Unexpected Attachments:</a:t>
            </a:r>
            <a:r>
              <a:rPr lang="en-US" sz="3200" dirty="0"/>
              <a:t> Do not open suspicious or unexpected files.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Verify the Request:</a:t>
            </a:r>
            <a:r>
              <a:rPr lang="en-US" sz="3200" dirty="0"/>
              <a:t> Contact the organization through its official channel if you are unsure.</a:t>
            </a:r>
          </a:p>
          <a:p>
            <a:endParaRPr lang="en-US" sz="2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D308864-FAB6-4FCD-AE1C-69EA1B2B9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36600" y="864711"/>
            <a:ext cx="7356789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to Identify a Phishing Email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4118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AF500-01C8-410A-81F8-827DA75CD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to Identify a Fake 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70AB72-1C5C-44A4-9482-A51F9C4E1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Content: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Check the URL:</a:t>
            </a:r>
            <a:r>
              <a:rPr lang="en-US" dirty="0"/>
              <a:t> Look for unusual spellings or suspicious domains.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Look for HTTPS:</a:t>
            </a:r>
            <a:r>
              <a:rPr lang="en-US" dirty="0"/>
              <a:t> Make sure the website uses a secure connection.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Check the Design:</a:t>
            </a:r>
            <a:r>
              <a:rPr lang="en-US" dirty="0"/>
              <a:t> Fake websites may contain poor layouts or unusual graphics.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Avoid Suspicious Pop-ups:</a:t>
            </a:r>
            <a:r>
              <a:rPr lang="en-US" dirty="0"/>
              <a:t> Be careful with unexpected warnings or offers.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Verify the Website:</a:t>
            </a:r>
            <a:r>
              <a:rPr lang="en-US" dirty="0"/>
              <a:t> Use the organization’s official website instead of unknown links.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6090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A44F8-4533-4D24-A831-A437F989E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Social Engineering in Phishing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B53B3-F3B8-4C1F-B574-8F8187D27C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Content: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Fear:</a:t>
            </a:r>
            <a:r>
              <a:rPr lang="en-US" dirty="0"/>
              <a:t> Attackers may threaten account suspension or security problems.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Urgency:</a:t>
            </a:r>
            <a:r>
              <a:rPr lang="en-US" dirty="0"/>
              <a:t> They pressure victims to act immediately.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Trust:</a:t>
            </a:r>
            <a:r>
              <a:rPr lang="en-US" dirty="0"/>
              <a:t> They pretend to be a bank, company, friend, or authority.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Curiosity:</a:t>
            </a:r>
            <a:r>
              <a:rPr lang="en-US" dirty="0"/>
              <a:t> They use interesting messages or unexpected links to attract attention.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Reward:</a:t>
            </a:r>
            <a:r>
              <a:rPr lang="en-US" dirty="0"/>
              <a:t> They may promise prizes, discounts, or other benefits.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5584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9555B-E58C-4A70-890F-AA4B46E366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500" b="1" dirty="0"/>
              <a:t>Content:</a:t>
            </a:r>
            <a:endParaRPr lang="en-US" sz="25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Think Before You Click</a:t>
            </a:r>
            <a:r>
              <a:rPr lang="en-US" sz="2500" dirty="0"/>
              <a:t> — Don't click suspicious links or attachments.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Use Strong Passwords</a:t>
            </a:r>
            <a:r>
              <a:rPr lang="en-US" sz="2500" dirty="0"/>
              <a:t> — Create unique passwords for your accounts.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Enable MFA</a:t>
            </a:r>
            <a:r>
              <a:rPr lang="en-US" sz="2500" dirty="0"/>
              <a:t> — Use multi-factor authentication whenever possible.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Keep Software Updated</a:t>
            </a:r>
            <a:r>
              <a:rPr lang="en-US" sz="2500" dirty="0"/>
              <a:t> — Install security updates regularly.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Verify Before Sharing</a:t>
            </a:r>
            <a:r>
              <a:rPr lang="en-US" sz="2500" dirty="0"/>
              <a:t> — Never provide sensitive information without verification.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500" b="1" dirty="0"/>
              <a:t>Report Suspicious Messages</a:t>
            </a:r>
            <a:r>
              <a:rPr lang="en-US" sz="2500" dirty="0"/>
              <a:t> — Report phishing attempts to the relevant organization.</a:t>
            </a:r>
          </a:p>
          <a:p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4B6A408-5B1C-4302-BC86-90818FC38B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913795" y="745809"/>
            <a:ext cx="8333500" cy="9848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How to Protect Yourself from Phishing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8688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F885D-BF48-40F9-A256-E72DFA12D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123826"/>
            <a:ext cx="10353762" cy="914400"/>
          </a:xfrm>
        </p:spPr>
        <p:txBody>
          <a:bodyPr>
            <a:normAutofit/>
          </a:bodyPr>
          <a:lstStyle/>
          <a:p>
            <a:r>
              <a:rPr lang="en-US" dirty="0"/>
              <a:t>Real-World Phishing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BC529-7DC1-4409-8771-901E4ABA0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90501" y="962026"/>
            <a:ext cx="5580136" cy="5495924"/>
          </a:xfrm>
        </p:spPr>
        <p:txBody>
          <a:bodyPr/>
          <a:lstStyle/>
          <a:p>
            <a:r>
              <a:rPr lang="en-US" b="1" dirty="0"/>
              <a:t>Content:</a:t>
            </a:r>
            <a:endParaRPr lang="en-US" dirty="0"/>
          </a:p>
          <a:p>
            <a:pPr marL="36900" indent="0">
              <a:buNone/>
            </a:pPr>
            <a:r>
              <a:rPr lang="en-US" b="1" dirty="0"/>
              <a:t>Scenario: Fake Bank Security Alert</a:t>
            </a:r>
            <a:endParaRPr lang="en-US" dirty="0"/>
          </a:p>
          <a:p>
            <a:pPr marL="36900" indent="0">
              <a:buNone/>
            </a:pPr>
            <a:r>
              <a:rPr lang="en-US" dirty="0"/>
              <a:t>An attacker sends an email pretending to be from a bank:</a:t>
            </a:r>
          </a:p>
          <a:p>
            <a:pPr marL="36900" indent="0">
              <a:buNone/>
            </a:pPr>
            <a:r>
              <a:rPr lang="en-US" b="1" dirty="0"/>
              <a:t>“Your account has been temporarily locked. Click here to verify your account immediately.”</a:t>
            </a:r>
          </a:p>
          <a:p>
            <a:pPr marL="36900" indent="0">
              <a:buNone/>
            </a:pPr>
            <a:r>
              <a:rPr lang="en-US" dirty="0"/>
              <a:t>The email contains a suspicious link that leads to a fake login page</a:t>
            </a:r>
            <a:endParaRPr lang="en-US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2392CF-8189-4B9C-86C8-393460E658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962026"/>
            <a:ext cx="5695950" cy="5495924"/>
          </a:xfrm>
        </p:spPr>
        <p:txBody>
          <a:bodyPr/>
          <a:lstStyle/>
          <a:p>
            <a:r>
              <a:rPr lang="en-US" sz="2400" b="1" dirty="0"/>
              <a:t>Warning Signs:</a:t>
            </a:r>
          </a:p>
          <a:p>
            <a:pPr marL="36900" indent="0">
              <a:buNone/>
            </a:pPr>
            <a:r>
              <a:rPr lang="en-US" dirty="0"/>
              <a:t>Urgent Language</a:t>
            </a:r>
          </a:p>
          <a:p>
            <a:pPr marL="36900" indent="0">
              <a:buNone/>
            </a:pPr>
            <a:r>
              <a:rPr lang="en-US" dirty="0"/>
              <a:t>Suspicious Sender Address</a:t>
            </a:r>
          </a:p>
          <a:p>
            <a:pPr marL="36900" indent="0">
              <a:buNone/>
            </a:pPr>
            <a:r>
              <a:rPr lang="en-US" dirty="0"/>
              <a:t>Unknown Link</a:t>
            </a:r>
          </a:p>
          <a:p>
            <a:pPr marL="36900" indent="0">
              <a:buNone/>
            </a:pPr>
            <a:r>
              <a:rPr lang="en-US" dirty="0"/>
              <a:t>Request for login credentials</a:t>
            </a:r>
          </a:p>
          <a:p>
            <a:pPr marL="36900" indent="0">
              <a:buNone/>
            </a:pPr>
            <a:endParaRPr lang="en-US" dirty="0"/>
          </a:p>
          <a:p>
            <a:r>
              <a:rPr lang="en-US" sz="2800" dirty="0"/>
              <a:t>Lesson</a:t>
            </a:r>
            <a:r>
              <a:rPr lang="en-US" dirty="0"/>
              <a:t>:</a:t>
            </a:r>
          </a:p>
          <a:p>
            <a:pPr marL="36900" indent="0">
              <a:buNone/>
            </a:pPr>
            <a:r>
              <a:rPr lang="en-US" dirty="0"/>
              <a:t>Never enter sensitive information through a link received in a suspicious message.</a:t>
            </a:r>
          </a:p>
        </p:txBody>
      </p:sp>
    </p:spTree>
    <p:extLst>
      <p:ext uri="{BB962C8B-B14F-4D97-AF65-F5344CB8AC3E}">
        <p14:creationId xmlns:p14="http://schemas.microsoft.com/office/powerpoint/2010/main" val="3185361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2DD87886-77D5-44B9-B1F0-0FE5A17ABDB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19151" y="543073"/>
            <a:ext cx="8810624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3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Phishing Prevention Checklist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E33118F-01F2-47EF-A61B-F584A1A2932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76250" y="1718802"/>
            <a:ext cx="10791825" cy="25237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☐ Check the sender's email address.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☐ Verify links before clicking.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☐ Be careful with urgent requests.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☐ Never share passwords or sensitive information.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☐ Avoid opening unexpected attachments.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☐ Enable Multi-Factor Authentication (MFA).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☐ Report suspicious messages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4851145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44BCD9-E1E1-43F6-A285-2E5C810A2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0075"/>
            <a:ext cx="10353762" cy="1257300"/>
          </a:xfrm>
        </p:spPr>
        <p:txBody>
          <a:bodyPr/>
          <a:lstStyle/>
          <a:p>
            <a:r>
              <a:rPr lang="en-US" b="1" dirty="0"/>
              <a:t>Phishing Awareness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470ED-DC0C-4DD5-884E-22FA77C227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25000" lnSpcReduction="20000"/>
          </a:bodyPr>
          <a:lstStyle/>
          <a:p>
            <a:r>
              <a:rPr lang="en-US" sz="7200" b="1" dirty="0"/>
              <a:t>Q1. Which is a common sign of a phishing email?</a:t>
            </a:r>
            <a:br>
              <a:rPr lang="en-US" sz="7200" dirty="0"/>
            </a:br>
            <a:r>
              <a:rPr lang="en-US" sz="7200" dirty="0"/>
              <a:t>A) Urgent request for information</a:t>
            </a:r>
            <a:br>
              <a:rPr lang="en-US" sz="7200" dirty="0"/>
            </a:br>
            <a:r>
              <a:rPr lang="en-US" sz="7200" dirty="0"/>
              <a:t>B) Official contact information</a:t>
            </a:r>
            <a:br>
              <a:rPr lang="en-US" sz="7200" dirty="0"/>
            </a:br>
            <a:r>
              <a:rPr lang="en-US" sz="7200" dirty="0"/>
              <a:t>C) Expected message from a known sender</a:t>
            </a:r>
            <a:br>
              <a:rPr lang="en-US" sz="7200" dirty="0"/>
            </a:br>
            <a:r>
              <a:rPr lang="en-US" sz="7200" dirty="0"/>
              <a:t>D) Normal communication</a:t>
            </a:r>
          </a:p>
          <a:p>
            <a:r>
              <a:rPr lang="en-US" sz="7200" b="1" dirty="0"/>
              <a:t>Q2. What should you do before clicking a suspicious link?</a:t>
            </a:r>
            <a:br>
              <a:rPr lang="en-US" sz="7200" dirty="0"/>
            </a:br>
            <a:r>
              <a:rPr lang="en-US" sz="7200" dirty="0"/>
              <a:t>A) Click immediately</a:t>
            </a:r>
            <a:br>
              <a:rPr lang="en-US" sz="7200" dirty="0"/>
            </a:br>
            <a:r>
              <a:rPr lang="en-US" sz="7200" dirty="0"/>
              <a:t>B) Share it with friends</a:t>
            </a:r>
            <a:br>
              <a:rPr lang="en-US" sz="7200" dirty="0"/>
            </a:br>
            <a:r>
              <a:rPr lang="en-US" sz="7200" dirty="0"/>
              <a:t>C) Verify the link and sender</a:t>
            </a:r>
            <a:br>
              <a:rPr lang="en-US" sz="7200" dirty="0"/>
            </a:br>
            <a:r>
              <a:rPr lang="en-US" sz="7200" dirty="0"/>
              <a:t>D) Enter your password</a:t>
            </a:r>
          </a:p>
          <a:p>
            <a:r>
              <a:rPr lang="en-US" sz="7200" b="1" dirty="0"/>
              <a:t>Q3. What is Smishing?</a:t>
            </a:r>
            <a:br>
              <a:rPr lang="en-US" sz="7200" dirty="0"/>
            </a:br>
            <a:r>
              <a:rPr lang="en-US" sz="7200" dirty="0"/>
              <a:t>A) Phishing through phone calls</a:t>
            </a:r>
            <a:br>
              <a:rPr lang="en-US" sz="7200" dirty="0"/>
            </a:br>
            <a:r>
              <a:rPr lang="en-US" sz="7200" dirty="0"/>
              <a:t>B) Phishing through SMS/text messages</a:t>
            </a:r>
            <a:br>
              <a:rPr lang="en-US" sz="7200" dirty="0"/>
            </a:br>
            <a:r>
              <a:rPr lang="en-US" sz="7200" dirty="0"/>
              <a:t>C) Phishing through websites</a:t>
            </a:r>
            <a:br>
              <a:rPr lang="en-US" sz="7200" dirty="0"/>
            </a:br>
            <a:r>
              <a:rPr lang="en-US" sz="7200" dirty="0"/>
              <a:t>D) Phishing through software</a:t>
            </a:r>
          </a:p>
          <a:p>
            <a:endParaRPr lang="en-US" dirty="0"/>
          </a:p>
          <a:p>
            <a:pPr marL="369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50756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B9AD4-921A-4BFA-B851-C38475977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920" y="285749"/>
            <a:ext cx="10353762" cy="885825"/>
          </a:xfrm>
        </p:spPr>
        <p:txBody>
          <a:bodyPr>
            <a:normAutofit/>
          </a:bodyPr>
          <a:lstStyle/>
          <a:p>
            <a:r>
              <a:rPr lang="en-US" b="1" dirty="0"/>
              <a:t>Phishing Awareness Quiz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FFBC1D-CBAC-4243-AF83-C0D8C6380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171574"/>
            <a:ext cx="10353762" cy="4057651"/>
          </a:xfrm>
        </p:spPr>
        <p:txBody>
          <a:bodyPr>
            <a:normAutofit fontScale="25000" lnSpcReduction="20000"/>
          </a:bodyPr>
          <a:lstStyle/>
          <a:p>
            <a:r>
              <a:rPr lang="en-US" sz="6400" b="1" dirty="0"/>
              <a:t>Q4. What should you do if you receive a suspicious email?</a:t>
            </a:r>
            <a:br>
              <a:rPr lang="en-US" sz="6400" dirty="0"/>
            </a:br>
            <a:r>
              <a:rPr lang="en-US" sz="6400" dirty="0"/>
              <a:t>A) Reply with your password</a:t>
            </a:r>
            <a:br>
              <a:rPr lang="en-US" sz="6400" dirty="0"/>
            </a:br>
            <a:r>
              <a:rPr lang="en-US" sz="6400" dirty="0"/>
              <a:t>B) Click its links</a:t>
            </a:r>
            <a:br>
              <a:rPr lang="en-US" sz="6400" dirty="0"/>
            </a:br>
            <a:r>
              <a:rPr lang="en-US" sz="6400" dirty="0"/>
              <a:t>C) Verify it through an official channel</a:t>
            </a:r>
            <a:br>
              <a:rPr lang="en-US" sz="6400" dirty="0"/>
            </a:br>
            <a:r>
              <a:rPr lang="en-US" sz="6400" dirty="0"/>
              <a:t>D) Forward it to everyone</a:t>
            </a:r>
          </a:p>
          <a:p>
            <a:r>
              <a:rPr lang="en-US" sz="6400" b="1" dirty="0"/>
              <a:t>Q5. Which security feature adds an extra layer of account protection?</a:t>
            </a:r>
            <a:br>
              <a:rPr lang="en-US" sz="6400" dirty="0"/>
            </a:br>
            <a:r>
              <a:rPr lang="en-US" sz="6400" dirty="0"/>
              <a:t>A) MFA</a:t>
            </a:r>
            <a:br>
              <a:rPr lang="en-US" sz="6400" dirty="0"/>
            </a:br>
            <a:r>
              <a:rPr lang="en-US" sz="6400" dirty="0"/>
              <a:t>B) Pop-ups</a:t>
            </a:r>
            <a:br>
              <a:rPr lang="en-US" sz="6400" dirty="0"/>
            </a:br>
            <a:r>
              <a:rPr lang="en-US" sz="6400" dirty="0"/>
              <a:t>C) Unknown links</a:t>
            </a:r>
            <a:br>
              <a:rPr lang="en-US" sz="6400" dirty="0"/>
            </a:br>
            <a:r>
              <a:rPr lang="en-US" sz="6400" dirty="0"/>
              <a:t>D) Weak passwords</a:t>
            </a:r>
          </a:p>
          <a:p>
            <a:pPr marL="36900" indent="0">
              <a:buNone/>
            </a:pPr>
            <a:r>
              <a:rPr lang="en-US" sz="8000" b="1" dirty="0"/>
              <a:t>Answers</a:t>
            </a:r>
          </a:p>
          <a:p>
            <a:pPr marL="36900" indent="0">
              <a:buNone/>
            </a:pPr>
            <a:r>
              <a:rPr lang="en-US" sz="8000" b="1" dirty="0"/>
              <a:t>Q1 (A) </a:t>
            </a:r>
          </a:p>
          <a:p>
            <a:pPr marL="36900" indent="0">
              <a:buNone/>
            </a:pPr>
            <a:r>
              <a:rPr lang="en-US" sz="8000" b="1" dirty="0"/>
              <a:t>Q2 (C)</a:t>
            </a:r>
          </a:p>
          <a:p>
            <a:pPr marL="36900" indent="0">
              <a:buNone/>
            </a:pPr>
            <a:r>
              <a:rPr lang="en-US" sz="8000" b="1" dirty="0"/>
              <a:t>Q3 (B)</a:t>
            </a:r>
          </a:p>
          <a:p>
            <a:pPr marL="36900" indent="0">
              <a:buNone/>
            </a:pPr>
            <a:r>
              <a:rPr lang="en-US" sz="8000" b="1" dirty="0"/>
              <a:t>Q4 (C)</a:t>
            </a:r>
          </a:p>
          <a:p>
            <a:pPr marL="36900" indent="0">
              <a:buNone/>
            </a:pPr>
            <a:r>
              <a:rPr lang="en-US" sz="8000" b="1" dirty="0"/>
              <a:t>Q5 (A)</a:t>
            </a:r>
          </a:p>
          <a:p>
            <a:endParaRPr lang="en-US" sz="6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7479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ECE1B-BA97-4610-B10A-D17DCB6CD2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Stay Safe from Phishing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D12D8D9-4431-48A1-9301-EAC567F6D6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7700" y="2093208"/>
            <a:ext cx="6534149" cy="2215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Think Before You Click.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Always verify suspicious emails and websites.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Never share sensitive information without verification.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Use strong passwords and Multi-Factor Authentication.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Stay alert to social engineering techniques.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Report suspicious phishing attempts.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1632530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B10A-8880-4068-B72C-1ACF1C29F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0075"/>
            <a:ext cx="10353762" cy="4838700"/>
          </a:xfrm>
        </p:spPr>
        <p:txBody>
          <a:bodyPr>
            <a:normAutofit/>
          </a:bodyPr>
          <a:lstStyle/>
          <a:p>
            <a:r>
              <a:rPr lang="en-US" sz="8000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557216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ustom 35">
      <a:dk1>
        <a:sysClr val="windowText" lastClr="000000"/>
      </a:dk1>
      <a:lt1>
        <a:sysClr val="window" lastClr="FFFFFF"/>
      </a:lt1>
      <a:dk2>
        <a:srgbClr val="4E3B30"/>
      </a:dk2>
      <a:lt2>
        <a:srgbClr val="F4EDD8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VTI" id="{35C4A07C-0176-4A32-9BCB-B016516853F0}" vid="{9B70D35C-BCA8-4715-BB49-8BE54A7FC0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Green">
    <a:dk1>
      <a:sysClr val="windowText" lastClr="000000"/>
    </a:dk1>
    <a:lt1>
      <a:sysClr val="window" lastClr="FFFFFF"/>
    </a:lt1>
    <a:dk2>
      <a:srgbClr val="455F51"/>
    </a:dk2>
    <a:lt2>
      <a:srgbClr val="E3DED1"/>
    </a:lt2>
    <a:accent1>
      <a:srgbClr val="549E39"/>
    </a:accent1>
    <a:accent2>
      <a:srgbClr val="8AB833"/>
    </a:accent2>
    <a:accent3>
      <a:srgbClr val="C0CF3A"/>
    </a:accent3>
    <a:accent4>
      <a:srgbClr val="029676"/>
    </a:accent4>
    <a:accent5>
      <a:srgbClr val="4AB5C4"/>
    </a:accent5>
    <a:accent6>
      <a:srgbClr val="0989B1"/>
    </a:accent6>
    <a:hlink>
      <a:srgbClr val="6B9F25"/>
    </a:hlink>
    <a:folHlink>
      <a:srgbClr val="BA6906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585E981-8C91-4205-A0C3-C991F42B4C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4C00F4-06E9-43E3-AD97-88A857CEFA82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64B270AB-C138-415C-897E-3C24487DECF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{A3CFD881-EE1B-4840-97AE-0C61BB0EFD5E}TFe742eee6-54b3-45e8-a03d-f3d997f9b6caf6c338c2_win32-3734725ae7e2</Template>
  <TotalTime>92</TotalTime>
  <Words>945</Words>
  <Application>Microsoft Office PowerPoint</Application>
  <PresentationFormat>Widescreen</PresentationFormat>
  <Paragraphs>99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Goudy Old Style</vt:lpstr>
      <vt:lpstr>Times New Roman</vt:lpstr>
      <vt:lpstr>Wingdings 2</vt:lpstr>
      <vt:lpstr>SlateVTI</vt:lpstr>
      <vt:lpstr>Phishing Awareness Training</vt:lpstr>
      <vt:lpstr> What is Phishing </vt:lpstr>
      <vt:lpstr>How Does Phishing Work? </vt:lpstr>
      <vt:lpstr>Common Types of Phishing</vt:lpstr>
      <vt:lpstr>How to Identify a Phishing Email </vt:lpstr>
      <vt:lpstr>How to Identify a Fake Website</vt:lpstr>
      <vt:lpstr>Social Engineering in Phishing</vt:lpstr>
      <vt:lpstr>How to Protect Yourself from Phishing </vt:lpstr>
      <vt:lpstr>Real-World Phishing Example</vt:lpstr>
      <vt:lpstr>Phishing Prevention Checklist </vt:lpstr>
      <vt:lpstr>Phishing Awareness Quiz</vt:lpstr>
      <vt:lpstr>Phishing Awareness Quiz</vt:lpstr>
      <vt:lpstr>Stay Safe from Phishing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Phishing Awareness Training</dc:title>
  <dc:creator>Abdul Saboor</dc:creator>
  <cp:lastModifiedBy>Abdul Saboor</cp:lastModifiedBy>
  <cp:revision>4</cp:revision>
  <dcterms:created xsi:type="dcterms:W3CDTF">2026-08-20T01:31:03Z</dcterms:created>
  <dcterms:modified xsi:type="dcterms:W3CDTF">2026-08-20T16:52:23Z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